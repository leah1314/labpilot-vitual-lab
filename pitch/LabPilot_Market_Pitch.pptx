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only measured CPU vs H100. Keep ‘100 hours manual’ as a separate softer claim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sandbox as a lab trust feature: isolated execution reduces data-leakage risk for sensitive pathogen datasets. Still a research prototype — not a compliance certification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0F6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6B6E"/>
                </a:solidFill>
                <a:latin typeface="Calibri"/>
              </a:rPr>
              <a:t>LABPILOT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Why pathogen intelligence for</a:t>
            </a:r>
          </a:p>
          <a:p>
            <a:r>
              <a:rPr sz="3600" b="1">
                <a:solidFill>
                  <a:srgbClr val="FFFFFF"/>
                </a:solidFill>
                <a:latin typeface="Calibri"/>
              </a:rPr>
              <a:t>ICU antibiotic decisions is a</a:t>
            </a:r>
          </a:p>
          <a:p>
            <a:r>
              <a:rPr sz="3600" b="1">
                <a:solidFill>
                  <a:srgbClr val="FFFFFF"/>
                </a:solidFill>
                <a:latin typeface="Calibri"/>
              </a:rPr>
              <a:t>billion-dollar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8B8C4"/>
                </a:solidFill>
                <a:latin typeface="Calibri"/>
              </a:rPr>
              <a:t>Pitch deck  ·  Speed, product, market  ·  Daytona HackSprint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A"/>
                </a:solidFill>
                <a:latin typeface="Calibri"/>
              </a:rPr>
              <a:t>LabPilot  ·  Research prototype — not for clinical use  ·  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The problem: life-or-death antibiotics with thin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32B"/>
                </a:solidFill>
                <a:latin typeface="Calibri"/>
              </a:rPr>
              <a:t>Infected pancreatic necrosis (IPN) is often driven by gut-derived bacteria — E. coli, Klebsiella, Enterococcus, C. difficile.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2B"/>
                </a:solidFill>
                <a:latin typeface="Calibri"/>
              </a:rPr>
              <a:t>ICU teams choose empiric antibiotics before full resistance structure is clear — high stakes, thin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32918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F6B6E"/>
                </a:solidFill>
                <a:latin typeface="Calibri"/>
              </a:rPr>
              <a:t>~20%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291840"/>
            <a:ext cx="3291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of acute pancreatitis
progresses to necrosis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77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32918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F6B6E"/>
                </a:solidFill>
                <a:latin typeface="Calibri"/>
              </a:rPr>
              <a:t>~30%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291840"/>
            <a:ext cx="3291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of necrotizing cases
develop infection (IPN)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77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606040"/>
            <a:ext cx="32918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F6B6E"/>
                </a:solidFill>
                <a:latin typeface="Calibri"/>
              </a:rPr>
              <a:t>15–35%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91840"/>
            <a:ext cx="3291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mortality associated
with infected necrosis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Labs also burn hours assembling AMR tables by hand. LabPilot compresses compute + makes results checkable via viz + chat.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Sources: JAC infected necrotizing pancreatitis review; PMC ANP/IPN epidemiology.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A"/>
                </a:solidFill>
                <a:latin typeface="Calibri"/>
              </a:rPr>
              <a:t>LabPilot  ·  Research prototype — not for clinical use  ·  3/12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Why LabPilot is a good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566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3566160" cy="73152"/>
          </a:xfrm>
          <a:prstGeom prst="rect">
            <a:avLst/>
          </a:prstGeom>
          <a:solidFill>
            <a:srgbClr val="0F6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1. Sharp clinical wedge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69164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Start where resistance decisions are hardest: gut→pancreas pathogens in severe pancreatitis / ICU.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Same organisms drive many hospital infections — wedge expands.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97280"/>
            <a:ext cx="3566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97280"/>
            <a:ext cx="356616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2. Speed +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69164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Same 34,466-protein job: ~1.9 hr on CPU → 93s on Daytona H100.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Daytona sandboxes isolate lab workloads — critical when pathogen data must not leak.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566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566160" cy="73152"/>
          </a:xfrm>
          <a:prstGeom prst="rect">
            <a:avLst/>
          </a:prstGeom>
          <a:solidFill>
            <a:srgbClr val="0F6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3. Honesty is the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69164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Headline finding: clusters are phenotype-flat (~11% max deviation).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We forbid ‘linked to resistance’ language unless enrichment passes — trust compounds.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A"/>
                </a:solidFill>
                <a:latin typeface="Calibri"/>
              </a:rPr>
              <a:t>LabPilot  ·  Research prototype — not for clinical use  ·  4/12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232B"/>
                </a:solidFill>
                <a:latin typeface="Calibri"/>
              </a:rPr>
              <a:t>End-to-end research system: real data → isolated GPU sandbox → grounded narration → viz + chatbot.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6B6E"/>
                </a:solidFill>
                <a:latin typeface="Calibri"/>
              </a:rPr>
              <a:t>BV-BRC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187451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A232B"/>
                </a:solidFill>
                <a:latin typeface="Calibri"/>
              </a:rPr>
              <a:t>Ingest AMR +
virulence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5B6B7A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0020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83080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6B6E"/>
                </a:solidFill>
                <a:latin typeface="Calibri"/>
              </a:rPr>
              <a:t>Daytona
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514600"/>
            <a:ext cx="187451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A232B"/>
                </a:solidFill>
                <a:latin typeface="Calibri"/>
              </a:rPr>
              <a:t>Isolated H100
embed +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3317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5B6B7A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0020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1783080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6B6E"/>
                </a:solidFill>
                <a:latin typeface="Calibri"/>
              </a:rPr>
              <a:t>Honesty
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514600"/>
            <a:ext cx="187451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A232B"/>
                </a:solidFill>
                <a:latin typeface="Calibri"/>
              </a:rPr>
              <a:t>Enrichment vs
base-rate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23317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5B6B7A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60020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783080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6B6E"/>
                </a:solidFill>
                <a:latin typeface="Calibri"/>
              </a:rPr>
              <a:t>Fireworks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514600"/>
            <a:ext cx="187451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A232B"/>
                </a:solidFill>
                <a:latin typeface="Calibri"/>
              </a:rPr>
              <a:t>Grounded
observations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3317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5B6B7A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160020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1783080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6B6E"/>
                </a:solidFill>
                <a:latin typeface="Calibri"/>
              </a:rPr>
              <a:t>CopilotKit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514600"/>
            <a:ext cx="187451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A232B"/>
                </a:solidFill>
                <a:latin typeface="Calibri"/>
              </a:rPr>
              <a:t>Dashboard viz
+ research 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23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32B"/>
                </a:solidFill>
                <a:latin typeface="Calibri"/>
              </a:rPr>
              <a:t>Working cohort: 240 pinned genomes · 6 organisms · 34,466 proteins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32B"/>
                </a:solidFill>
                <a:latin typeface="Calibri"/>
              </a:rPr>
              <a:t>Product: interactive visualizations + grounded chatbot so researchers can check numbers in plain language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32B"/>
                </a:solidFill>
                <a:latin typeface="Calibri"/>
              </a:rPr>
              <a:t>Security: Daytona sandbox runs GPU work in an isolated environment — important for sensitive lab / pathogen datasets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32B"/>
                </a:solidFill>
                <a:latin typeface="Calibri"/>
              </a:rPr>
              <a:t>Status: research prototype — not for clinical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A"/>
                </a:solidFill>
                <a:latin typeface="Calibri"/>
              </a:rPr>
              <a:t>LabPilot  ·  Research prototype — not for clinical use  ·  5/12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Key data: time saved on the same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32B"/>
                </a:solidFill>
                <a:latin typeface="Calibri"/>
              </a:rPr>
              <a:t>Same job — embed 34,466 proteins with ESM2 (esm2_t12_35M). Measured in-repo, not estimated.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794760"/>
                <a:gridCol w="379476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F6B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Lab CPU (same pipeline)</a:t>
                      </a:r>
                    </a:p>
                  </a:txBody>
                  <a:tcPr>
                    <a:solidFill>
                      <a:srgbClr val="0F6B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LabPilot on Daytona H100</a:t>
                      </a:r>
                    </a:p>
                  </a:txBody>
                  <a:tcPr>
                    <a:solidFill>
                      <a:srgbClr val="0F6B6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32B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2B"/>
                          </a:solidFill>
                          <a:latin typeface="Calibri"/>
                        </a:rPr>
                        <a:t>~5 sequences / second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2B"/>
                          </a:solidFill>
                          <a:latin typeface="Calibri"/>
                        </a:rPr>
                        <a:t>370.5 sequences / second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32B"/>
                          </a:solidFill>
                          <a:latin typeface="Calibri"/>
                        </a:rPr>
                        <a:t>Embed time (34,466 proteins)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7A4E"/>
                          </a:solidFill>
                          <a:latin typeface="Calibri"/>
                        </a:rPr>
                        <a:t>~1.9 hours  (≈115 minutes)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7A4E"/>
                          </a:solidFill>
                          <a:latin typeface="Calibri"/>
                        </a:rPr>
                        <a:t>93.0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32B"/>
                          </a:solidFill>
                          <a:latin typeface="Calibri"/>
                        </a:rPr>
                        <a:t>Clustering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2B"/>
                          </a:solidFill>
                          <a:latin typeface="Calibri"/>
                        </a:rPr>
                        <a:t>+6.9 seconds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32B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2B"/>
                          </a:solidFill>
                          <a:latin typeface="Calibri"/>
                        </a:rPr>
                        <a:t>pipeline/README.md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2B"/>
                          </a:solidFill>
                          <a:latin typeface="Calibri"/>
                        </a:rPr>
                        <a:t>data/timing.json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663440"/>
            <a:ext cx="10881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7A4E"/>
                </a:solidFill>
                <a:latin typeface="Calibri"/>
              </a:rPr>
              <a:t>~74×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40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Calibri"/>
              </a:rPr>
              <a:t>faster 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8463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7A4E"/>
                </a:solidFill>
                <a:latin typeface="Calibri"/>
              </a:rPr>
              <a:t>~1.9 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440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Calibri"/>
              </a:rPr>
              <a:t>compute saved /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463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7A4E"/>
                </a:solidFill>
                <a:latin typeface="Calibri"/>
              </a:rPr>
              <a:t>~99%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440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Calibri"/>
              </a:rPr>
              <a:t>of embed wall-clock cut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A"/>
                </a:solidFill>
                <a:latin typeface="Calibri"/>
              </a:rPr>
              <a:t>LabPilot  ·  Research prototype — not for clinical use  ·  6/12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Built for labs: see it, ask it, keep it isolated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3566160" cy="73152"/>
          </a:xfrm>
          <a:prstGeom prst="rect">
            <a:avLst/>
          </a:prstGeom>
          <a:solidFill>
            <a:srgbClr val="0F6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69164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Interactive CopilotKit dashboard for clusters, resistance structure, gene explorer, and pipeline status.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Researchers spot patterns visually instead of scrolling raw CSVs.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Surfaces: dashboard / gene explorer / insights / pipeline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9728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97280"/>
            <a:ext cx="356616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Chatbot for data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69164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Grounded research copilot — ask plain-language questions about the loaded dataset.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Numbers must come from measured stats (no invented figures).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Makes QA faster: ‘what’s the largest cluster?’ ‘any resistance enrichment?’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566160" cy="73152"/>
          </a:xfrm>
          <a:prstGeom prst="rect">
            <a:avLst/>
          </a:prstGeom>
          <a:solidFill>
            <a:srgbClr val="0F6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Daytona sandbox (leakage)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69164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GPU embedding/clustering runs inside a Daytona sandbox — isolated compute for lab workloads.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Important when pathogen / proprietary sequences must not spill into shared local machines or uncontrolled environments.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Ephemeral sandboxes + volume controls support safer research 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A"/>
                </a:solidFill>
                <a:latin typeface="Calibri"/>
              </a:rPr>
              <a:t>LabPilot  ·  Research prototype — not for clinical use  ·  7/12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How big is the market?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32B"/>
                </a:solidFill>
                <a:latin typeface="Calibri"/>
              </a:rPr>
              <a:t>LabPilot sits at the intersection of AMR diagnostics intelligence and AI stewardship software.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486400" cy="73152"/>
          </a:xfrm>
          <a:prstGeom prst="rect">
            <a:avLst/>
          </a:prstGeom>
          <a:solidFill>
            <a:srgbClr val="0F6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556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TAM — AMR diagnostics (global)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4884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~$3.5–4.7B in 2025–2026 depending on report scope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Projected ~$4.7–8.1B by early 2030s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CAGR roughly ~4–9% (diagnostics hardware + labs)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Ranges: Grand View, Precedence, Strategic Market Research.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554480"/>
            <a:ext cx="521208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75564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Faster growth — AI stewardship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148840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AI-driven antimicrobial stewardship platforms: ~$1.33B (2025) → ~$5.9B (2034)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CAGR ~16.7% (Growth Market Reports)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Broader antibiotic stewardship solutions: ~$1.56B → ~$5.5B, CAGR ~15.7%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Software is ~60%+ of spend — dashboards + copilots are the wedge.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A"/>
                </a:solidFill>
                <a:latin typeface="Calibri"/>
              </a:rPr>
              <a:t>LabPilot  ·  Research prototype — not for clinical use  ·  8/12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TAM → SAM → SOM (honest framing)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5661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3566160" cy="73152"/>
          </a:xfrm>
          <a:prstGeom prst="rect">
            <a:avLst/>
          </a:prstGeom>
          <a:solidFill>
            <a:srgbClr val="0F6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4416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TAM  ~$1.3–1.6B+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3736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AI / digital antimicrobial stewardship platforms &amp; solutions (2025).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Plus adjacent AMR diagnostics intelligence buyers.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Ceiling category — not year-1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35661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43000"/>
            <a:ext cx="356616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4416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SAM  research + hospital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73736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Academic medical centers, ID/stewardship teams, pathogen analytics groups needing grounded genome→insight workflows.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North America ~35–40% of stewardship software spend.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43000"/>
            <a:ext cx="35661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3566160" cy="73152"/>
          </a:xfrm>
          <a:prstGeom prst="rect">
            <a:avLst/>
          </a:prstGeom>
          <a:solidFill>
            <a:srgbClr val="0F6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34416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SOM  beachhead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73736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ICU / pancreatitis &amp; gut-pathogen AMR research copilots at pilot sites.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Near-term: research seats + hospital innovation pilots (5–20 sites).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Keep claims research-grade until clinical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A"/>
                </a:solidFill>
                <a:latin typeface="Calibri"/>
              </a:rPr>
              <a:t>LabPilot  ·  Research prototype — not for clinical use  ·  9/12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Why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881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6B6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6187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Policy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002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32B"/>
                </a:solidFill>
                <a:latin typeface="Calibri"/>
              </a:rPr>
              <a:t>Stewardship mandates push hospitals toward monitoring + decision-support tooling.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10881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6B6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0487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GPU + sandbox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432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32B"/>
                </a:solidFill>
                <a:latin typeface="Calibri"/>
              </a:rPr>
              <a:t>Daytona H100 makes large embedding jobs cheap and isolatable for lab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10881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6B6E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4787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LLM trust crisis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862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32B"/>
                </a:solidFill>
                <a:latin typeface="Calibri"/>
              </a:rPr>
              <a:t>Buyers reject hallucinated medical numbers — grounding + eval is a buying criterion.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26280"/>
            <a:ext cx="10881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800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6B6E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9087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~16% CAGR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292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32B"/>
                </a:solidFill>
                <a:latin typeface="Calibri"/>
              </a:rPr>
              <a:t>AI stewardship software is growing fast; trust-first products can lock workflows.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A"/>
                </a:solidFill>
                <a:latin typeface="Calibri"/>
              </a:rPr>
              <a:t>LabPilot  ·  Research prototype — not for clinical use  ·  10/12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Path to value (post-hackathon)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3949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5394960" cy="73152"/>
          </a:xfrm>
          <a:prstGeom prst="rect">
            <a:avLst/>
          </a:prstGeom>
          <a:solidFill>
            <a:srgbClr val="0F6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441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Near-term monetization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37360"/>
            <a:ext cx="50292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Research licenses for pathogen analytics workspaces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Sponsored GPU + grounded insight pipelines for AMR labs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Pilot contracts with hospital innovation / stewardship teams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Sandbox-isolated processing as a trust feature for lab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21208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34416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Longer-term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737360"/>
            <a:ext cx="484632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SaaS stewardship intelligence layer (read-only first)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EHR / LIS integrations only after clinical validation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Expand from pancreatitis wedge → hospital antibiogram copilots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Faithfulness eval + sandbox isolation stay core 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A"/>
                </a:solidFill>
                <a:latin typeface="Calibri"/>
              </a:rPr>
              <a:t>LabPilot  ·  Research prototype — not for clinical use  ·  11/12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The ask / the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32B"/>
                </a:solidFill>
                <a:latin typeface="Calibri"/>
              </a:rPr>
              <a:t>LabPilot makes pathogen AMR analysis fast to run, easy to check (viz + chat), and safer to compute (Daytona sandbox) —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32B"/>
                </a:solidFill>
                <a:latin typeface="Calibri"/>
              </a:rPr>
              <a:t>with a path into a multi-billion stewardship software market.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331720"/>
            <a:ext cx="24688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B7A4E"/>
                </a:solidFill>
                <a:latin typeface="Calibri"/>
              </a:rPr>
              <a:t>93s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24688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vs ~1.9 hr CPU
on 34k proteins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031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24688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F6B6E"/>
                </a:solidFill>
                <a:latin typeface="Calibri"/>
              </a:rPr>
              <a:t>Viz+Chat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24688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check data without
raw CSV hunting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031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24688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C45C26"/>
                </a:solidFill>
                <a:latin typeface="Calibri"/>
              </a:rPr>
              <a:t>Sandbox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4688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isolate lab data
to reduce leakage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103120"/>
            <a:ext cx="2377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3317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F6B6E"/>
                </a:solidFill>
                <a:latin typeface="Calibri"/>
              </a:rPr>
              <a:t>$1.3B+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175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AI stewardship
platforms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Repo: github.com/johnqh/daytona_hackathon   ·   Team: Leah Zeng · Peixi Xie · John Huang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Research prototype — not for clinical use. Next: pilots, validation, then clinical-facing productization.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B7A"/>
                </a:solidFill>
                <a:latin typeface="Calibri"/>
              </a:rPr>
              <a:t>LabPilot  ·  Research prototype — not for clinical use  ·  12/12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Calibri"/>
              </a:rPr>
              <a:t>Sources &amp;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Compute: data/timing.json — 34,466 proteins, 93.03s embed, 370.5 seq/s on NVIDIA H100 80GB; clustering 6.93s.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CPU baseline: pipeline/README.md — measured ~5 seq/s → ~1.9 hours for the full cohort.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Clinical: Garret et al., JAC — infected necrotizing pancreatitis epidemiology &amp; mortality.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AMR diagnostics market: Grand View / Precedence / Strategic Market Research (ranges vary).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Stewardship software: Growth Market Reports — AI stewardship ~$1.33B→~$5.9B (16.7% CAGR); broader ~$1.56B→~$5.5B.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Caveat: analyst market sizes are directional estimates, not LabPilot revenue forecasts.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Caveat: Daytona sandbox isolation is an engineering control — not a claim of HIPAA/SOC2 certification.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32B"/>
                </a:solidFill>
                <a:latin typeface="Calibri"/>
              </a:rPr>
              <a:t>Caveat: LabPilot is a research prototype and is not for clinical decision-making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